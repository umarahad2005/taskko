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45936" y="1316736"/>
            <a:ext cx="2250440" cy="4590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rm_triadic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140712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49056" y="1499616"/>
            <a:ext cx="2119376" cy="4315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_habitica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554480"/>
            <a:ext cx="2009648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003536" y="1682496"/>
            <a:ext cx="1988312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mp_cool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737360"/>
            <a:ext cx="1878584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640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60350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8FC4"/>
                </a:solidFill>
                <a:latin typeface="Segoe UI"/>
              </a:rPr>
              <a:t>MOBILE APPLICATION DEVELOPMENT · LAB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240280"/>
            <a:ext cx="5669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121220"/>
                </a:solidFill>
                <a:latin typeface="Georgia"/>
              </a:rPr>
              <a:t>Colour Theory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121220"/>
                </a:solidFill>
                <a:latin typeface="Georgia"/>
              </a:rPr>
              <a:t>&amp; the Taskko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121220"/>
                </a:solidFill>
                <a:latin typeface="Georgia"/>
              </a:rPr>
              <a:t>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15968"/>
            <a:ext cx="822960" cy="64008"/>
          </a:xfrm>
          <a:prstGeom prst="roundRect">
            <a:avLst>
              <a:gd name="adj" fmla="val 50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Competitor palettes · 60-30-10 · harmonies · 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1220"/>
                </a:solidFill>
                <a:latin typeface="Segoe UI"/>
              </a:rPr>
              <a:t>Umar Ahad Uddin Ahmed Usmani  (SAP 60199)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1220"/>
                </a:solidFill>
                <a:latin typeface="Segoe UI"/>
              </a:rPr>
              <a:t>Muhammad Sharjeel  (SAP 59385)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6B82"/>
                </a:solidFill>
                <a:latin typeface="Segoe UI"/>
              </a:rPr>
              <a:t>Riphah International University · 20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FC4"/>
                </a:solidFill>
                <a:latin typeface="Segoe UI"/>
              </a:rPr>
              <a:t>WHAT THIS LAB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21220"/>
                </a:solidFill>
                <a:latin typeface="Georgia"/>
              </a:rPr>
              <a:t>Four colour-theory tasks, applied to Taskko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5648"/>
            <a:ext cx="640080" cy="64008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5440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28016" cy="1600200"/>
          </a:xfrm>
          <a:prstGeom prst="roundRect">
            <a:avLst>
              <a:gd name="adj" fmla="val 4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5000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1 · Competitor palettes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6207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2E3F"/>
                </a:solidFill>
                <a:latin typeface="Segoe UI"/>
              </a:rPr>
              <a:t>Extract the colour palettes of two competitor apps (Habitica &amp; Forest) with Adobe Color.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48840"/>
            <a:ext cx="5440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148840"/>
            <a:ext cx="128016" cy="1600200"/>
          </a:xfrm>
          <a:prstGeom prst="roundRect">
            <a:avLst>
              <a:gd name="adj" fmla="val 40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35000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2 · 60-30-10 schemes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6207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2E3F"/>
                </a:solidFill>
                <a:latin typeface="Segoe UI"/>
              </a:rPr>
              <a:t>Re-skin the Taskko Home screen in each palette using the 60-30-10 ratio.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14800"/>
            <a:ext cx="5440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114800"/>
            <a:ext cx="128016" cy="160020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1596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3 · Five harmonies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2E3F"/>
                </a:solidFill>
                <a:latin typeface="Segoe UI"/>
              </a:rPr>
              <a:t>Apply monochromatic, complementary, split-complementary, analogous &amp; triadic harmonies.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114800"/>
            <a:ext cx="5440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4114800"/>
            <a:ext cx="128016" cy="1600200"/>
          </a:xfrm>
          <a:prstGeom prst="roundRect">
            <a:avLst>
              <a:gd name="adj" fmla="val 4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31596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4 · Temperature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82803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2E3F"/>
                </a:solidFill>
                <a:latin typeface="Segoe UI"/>
              </a:rPr>
              <a:t>Render warm, cool, neutral &amp; achromatic versions and match them to app types.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FC4"/>
                </a:solidFill>
                <a:latin typeface="Segoe UI"/>
              </a:rP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21220"/>
                </a:solidFill>
                <a:latin typeface="Georgia"/>
              </a:rPr>
              <a:t>Adobe Color  +  the 60-30-10 rule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5648"/>
            <a:ext cx="640080" cy="64008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21220"/>
                </a:solidFill>
                <a:latin typeface="Segoe UI"/>
              </a:rPr>
              <a:t>We used color.adobe.com in two modes: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109728" cy="868680"/>
          </a:xfrm>
          <a:prstGeom prst="roundRect">
            <a:avLst>
              <a:gd name="adj" fmla="val 4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1576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21220"/>
                </a:solidFill>
                <a:latin typeface="Segoe UI"/>
              </a:rPr>
              <a:t>Extract Theme from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>Upload a competitor screenshot; Adobe Color samples 5 representative swatches and gives the hex codes.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8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109728" cy="868680"/>
          </a:xfrm>
          <a:prstGeom prst="roundRect">
            <a:avLst>
              <a:gd name="adj" fmla="val 4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2160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21220"/>
                </a:solidFill>
                <a:latin typeface="Segoe UI"/>
              </a:rPr>
              <a:t>Colour-wheel harmony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>Set Taskko's base hue (197°) and switch between the 5 harmony rules to generate each palette mathematically.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606040"/>
            <a:ext cx="51206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7432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21220"/>
                </a:solidFill>
                <a:latin typeface="Segoe UI"/>
              </a:rPr>
              <a:t>The 60-30-10 rule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246120"/>
            <a:ext cx="4663440" cy="566928"/>
          </a:xfrm>
          <a:prstGeom prst="roundRect">
            <a:avLst>
              <a:gd name="adj" fmla="val 12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3649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1220"/>
                </a:solidFill>
                <a:latin typeface="Segoe UI"/>
              </a:rPr>
              <a:t>60%  Dominant / background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3904488"/>
            <a:ext cx="4663440" cy="566928"/>
          </a:xfrm>
          <a:prstGeom prst="roundRect">
            <a:avLst>
              <a:gd name="adj" fmla="val 12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4023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30%  Secondary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4562856"/>
            <a:ext cx="4663440" cy="566928"/>
          </a:xfrm>
          <a:prstGeom prst="roundRect">
            <a:avLst>
              <a:gd name="adj" fmla="val 12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468172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10%  Accent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FC4"/>
                </a:solidFill>
                <a:latin typeface="Segoe UI"/>
              </a:rPr>
              <a:t>STEP 1 · COMPETITOR PALETTES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21220"/>
                </a:solidFill>
                <a:latin typeface="Georgia"/>
              </a:rPr>
              <a:t>Two competitors, extracted with Adobe Color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5648"/>
            <a:ext cx="640080" cy="64008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21220"/>
                </a:solidFill>
                <a:latin typeface="Segoe UI"/>
              </a:rPr>
              <a:t>Habitica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6B82"/>
                </a:solidFill>
                <a:latin typeface="Segoe UI"/>
              </a:rPr>
              <a:t>— gamified habit &amp; to-do RPG — purple-dominant with bright RPG stat colours</a:t>
            </a:r>
          </a:p>
        </p:txBody>
      </p:sp>
      <p:pic>
        <p:nvPicPr>
          <p:cNvPr id="9" name="Picture 8" descr="comp_habitica_s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11064240" cy="23090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21220"/>
                </a:solidFill>
                <a:latin typeface="Segoe UI"/>
              </a:rPr>
              <a:t>Forest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6B82"/>
                </a:solidFill>
                <a:latin typeface="Segoe UI"/>
              </a:rPr>
              <a:t>— focus / anti-distraction timer — green-dominant with a gold coin reward accent</a:t>
            </a:r>
          </a:p>
        </p:txBody>
      </p:sp>
      <p:pic>
        <p:nvPicPr>
          <p:cNvPr id="11" name="Picture 10" descr="comp_forest_s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00600"/>
            <a:ext cx="11064240" cy="23090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8A65"/>
                </a:solidFill>
                <a:latin typeface="Segoe UI"/>
              </a:rPr>
              <a:t>STEP 2 · 60-30-10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21220"/>
                </a:solidFill>
                <a:latin typeface="Georgia"/>
              </a:rPr>
              <a:t>Each palette mapped onto the Taskko Home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5648"/>
            <a:ext cx="640080" cy="64008"/>
          </a:xfrm>
          <a:prstGeom prst="roundRect">
            <a:avLst>
              <a:gd name="adj" fmla="val 50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Habitica skin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414016"/>
            <a:ext cx="1726184" cy="3493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mp_habitica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1616456" cy="3383280"/>
          </a:xfrm>
          <a:prstGeom prst="rect">
            <a:avLst/>
          </a:prstGeom>
        </p:spPr>
      </p:pic>
      <p:pic>
        <p:nvPicPr>
          <p:cNvPr id="11" name="Picture 10" descr="comp_habitica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743200"/>
            <a:ext cx="3566160" cy="466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51760" y="3383280"/>
            <a:ext cx="3566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2E3F"/>
                </a:solidFill>
                <a:latin typeface="Segoe UI"/>
              </a:rPr>
              <a:t>60% lilac · 30% purple · 10% gold accent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Forest skin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7376" y="2414016"/>
            <a:ext cx="1726184" cy="3493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mp_forest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468880"/>
            <a:ext cx="1616456" cy="3383280"/>
          </a:xfrm>
          <a:prstGeom prst="rect">
            <a:avLst/>
          </a:prstGeom>
        </p:spPr>
      </p:pic>
      <p:pic>
        <p:nvPicPr>
          <p:cNvPr id="16" name="Picture 15" descr="comp_forest_rat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743200"/>
            <a:ext cx="3566160" cy="4663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03920" y="3383280"/>
            <a:ext cx="3566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2E3F"/>
                </a:solidFill>
                <a:latin typeface="Segoe UI"/>
              </a:rPr>
              <a:t>60% mint · 30% green · 10% gold accent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FC4"/>
                </a:solidFill>
                <a:latin typeface="Segoe UI"/>
              </a:rPr>
              <a:t>STEP 3 · HARMONY 1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21220"/>
                </a:solidFill>
                <a:latin typeface="Georgia"/>
              </a:rPr>
              <a:t>Monochromatic  —  197° only — tints &amp; shades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5648"/>
            <a:ext cx="640080" cy="64008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arm_mono_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2651760" cy="2651760"/>
          </a:xfrm>
          <a:prstGeom prst="rect">
            <a:avLst/>
          </a:prstGeom>
        </p:spPr>
      </p:pic>
      <p:pic>
        <p:nvPicPr>
          <p:cNvPr id="9" name="Picture 8" descr="harm_mono_s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37760"/>
            <a:ext cx="3291840" cy="686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064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B6B82"/>
                </a:solidFill>
                <a:latin typeface="Segoe UI"/>
              </a:rPr>
              <a:t>Adobe Color harmony palette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9936" y="1819655"/>
            <a:ext cx="2206752" cy="4498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rm_mono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874519"/>
            <a:ext cx="2097024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6560" y="22860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C4"/>
                </a:solidFill>
                <a:latin typeface="Segoe UI"/>
              </a:rPr>
              <a:t>Applied to the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E2E3F"/>
                </a:solidFill>
                <a:latin typeface="Segoe UI"/>
              </a:rPr>
              <a:t>One hue in many tints and shades. Calm, cohesive, very low visual noise.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2976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434840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C4"/>
                </a:solidFill>
                <a:latin typeface="Segoe UI"/>
              </a:rPr>
              <a:t>Note: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2E3F"/>
                </a:solidFill>
                <a:latin typeface="Segoe UI"/>
              </a:rPr>
              <a:t>Trade-off: low contrast, so the darkest shade carries the CTA.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Segoe UI"/>
              </a:rPr>
              <a:t>STEP 3 · HARMONY 2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21220"/>
                </a:solidFill>
                <a:latin typeface="Georgia"/>
              </a:rPr>
              <a:t>Complementary  —  197° + 17° (opposite)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5648"/>
            <a:ext cx="640080" cy="640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arm_complementary_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2651760" cy="2651760"/>
          </a:xfrm>
          <a:prstGeom prst="rect">
            <a:avLst/>
          </a:prstGeom>
        </p:spPr>
      </p:pic>
      <p:pic>
        <p:nvPicPr>
          <p:cNvPr id="9" name="Picture 8" descr="harm_complementary_s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37760"/>
            <a:ext cx="3291840" cy="686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064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B6B82"/>
                </a:solidFill>
                <a:latin typeface="Segoe UI"/>
              </a:rPr>
              <a:t>Adobe Color harmony palette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9936" y="1819655"/>
            <a:ext cx="2206752" cy="4498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rm_complementary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874519"/>
            <a:ext cx="2097024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6560" y="22860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C4"/>
                </a:solidFill>
                <a:latin typeface="Segoe UI"/>
              </a:rPr>
              <a:t>Applied to the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E2E3F"/>
                </a:solidFill>
                <a:latin typeface="Segoe UI"/>
              </a:rPr>
              <a:t>Base blue + its opposite, warm orange. Maximum contrast — the hero pops hard.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2976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D6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434840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Note: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2E3F"/>
                </a:solidFill>
                <a:latin typeface="Segoe UI"/>
              </a:rPr>
              <a:t>Great for one strong CTA; use sparingly to avoid vibration.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FC4"/>
                </a:solidFill>
                <a:latin typeface="Segoe UI"/>
              </a:rPr>
              <a:t>STEP 3 · HARMONY 3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21220"/>
                </a:solidFill>
                <a:latin typeface="Georgia"/>
              </a:rPr>
              <a:t>Split-Complementary  —  197° + 347° + 47°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5648"/>
            <a:ext cx="640080" cy="64008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arm_split_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2651760" cy="2651760"/>
          </a:xfrm>
          <a:prstGeom prst="rect">
            <a:avLst/>
          </a:prstGeom>
        </p:spPr>
      </p:pic>
      <p:pic>
        <p:nvPicPr>
          <p:cNvPr id="9" name="Picture 8" descr="harm_split_s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37760"/>
            <a:ext cx="3291840" cy="686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064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B6B82"/>
                </a:solidFill>
                <a:latin typeface="Segoe UI"/>
              </a:rPr>
              <a:t>Adobe Color harmony palette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9936" y="1819655"/>
            <a:ext cx="2206752" cy="4498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rm_split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874519"/>
            <a:ext cx="2097024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6560" y="22860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C4"/>
                </a:solidFill>
                <a:latin typeface="Segoe UI"/>
              </a:rPr>
              <a:t>Applied to the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E2E3F"/>
                </a:solidFill>
                <a:latin typeface="Segoe UI"/>
              </a:rPr>
              <a:t>Base + the two hues beside its complement (rose &amp; amber).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2976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434840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C4"/>
                </a:solidFill>
                <a:latin typeface="Segoe UI"/>
              </a:rPr>
              <a:t>Note: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2E3F"/>
                </a:solidFill>
                <a:latin typeface="Segoe UI"/>
              </a:rPr>
              <a:t>Complementary contrast, but softer and with two accent options.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Segoe UI"/>
              </a:rPr>
              <a:t>STEP 3 · HARMONY 4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21220"/>
                </a:solidFill>
                <a:latin typeface="Georgia"/>
              </a:rPr>
              <a:t>Analogous  —  167° + 197° + 227°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5648"/>
            <a:ext cx="640080" cy="640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arm_analogous_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2651760" cy="2651760"/>
          </a:xfrm>
          <a:prstGeom prst="rect">
            <a:avLst/>
          </a:prstGeom>
        </p:spPr>
      </p:pic>
      <p:pic>
        <p:nvPicPr>
          <p:cNvPr id="9" name="Picture 8" descr="harm_analogous_s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37760"/>
            <a:ext cx="3291840" cy="686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064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B6B82"/>
                </a:solidFill>
                <a:latin typeface="Segoe UI"/>
              </a:rPr>
              <a:t>Adobe Color harmony palette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9936" y="1819655"/>
            <a:ext cx="2206752" cy="4498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rm_analogous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874519"/>
            <a:ext cx="2097024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6560" y="22860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C4"/>
                </a:solidFill>
                <a:latin typeface="Segoe UI"/>
              </a:rPr>
              <a:t>Applied to the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E2E3F"/>
                </a:solidFill>
                <a:latin typeface="Segoe UI"/>
              </a:rPr>
              <a:t>Three neighbours: teal, blue, indigo. Very harmonious and serene.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2976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D6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434840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Note: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2E3F"/>
                </a:solidFill>
                <a:latin typeface="Segoe UI"/>
              </a:rPr>
              <a:t>Ideal for a focus app; accents stay subtle and restful.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FC4"/>
                </a:solidFill>
                <a:latin typeface="Segoe UI"/>
              </a:rPr>
              <a:t>STEP 3 · HARMONY 5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21220"/>
                </a:solidFill>
                <a:latin typeface="Georgia"/>
              </a:rPr>
              <a:t>Triadic  —  197° + 317° + 77°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5648"/>
            <a:ext cx="640080" cy="64008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arm_triadic_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2651760" cy="2651760"/>
          </a:xfrm>
          <a:prstGeom prst="rect">
            <a:avLst/>
          </a:prstGeom>
        </p:spPr>
      </p:pic>
      <p:pic>
        <p:nvPicPr>
          <p:cNvPr id="9" name="Picture 8" descr="harm_triadic_s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37760"/>
            <a:ext cx="3291840" cy="686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064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B6B82"/>
                </a:solidFill>
                <a:latin typeface="Segoe UI"/>
              </a:rPr>
              <a:t>Adobe Color harmony palette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9936" y="1819655"/>
            <a:ext cx="2206752" cy="4498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rm_triadic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874519"/>
            <a:ext cx="2097024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6560" y="22860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C4"/>
                </a:solidFill>
                <a:latin typeface="Segoe UI"/>
              </a:rPr>
              <a:t>Applied to the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E2E3F"/>
                </a:solidFill>
                <a:latin typeface="Segoe UI"/>
              </a:rPr>
              <a:t>Three evenly-spaced hues: blue, magenta, lime. Vibrant and playful.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2976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434840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C4"/>
                </a:solidFill>
                <a:latin typeface="Segoe UI"/>
              </a:rPr>
              <a:t>Note: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2E3F"/>
                </a:solidFill>
                <a:latin typeface="Segoe UI"/>
              </a:rPr>
              <a:t>Fits the gamified side; keep blue dominant to avoid chaos.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8A65"/>
                </a:solidFill>
                <a:latin typeface="Segoe UI"/>
              </a:rPr>
              <a:t>STEP 4 · TEMPERATURE (WARM &amp; COOL)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21220"/>
                </a:solidFill>
                <a:latin typeface="Georgia"/>
              </a:rPr>
              <a:t>Matching colour temperature to the app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5648"/>
            <a:ext cx="640080" cy="64008"/>
          </a:xfrm>
          <a:prstGeom prst="roundRect">
            <a:avLst>
              <a:gd name="adj" fmla="val 50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8A65"/>
                </a:solidFill>
                <a:latin typeface="Segoe UI"/>
              </a:rPr>
              <a:t>Warm colours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459736"/>
            <a:ext cx="1726184" cy="3493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_warm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4600"/>
            <a:ext cx="1616456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51760" y="2560320"/>
            <a:ext cx="3520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E2E3F"/>
                </a:solidFill>
                <a:latin typeface="Segoe UI"/>
              </a:rPr>
              <a:t>Energetic, urgent, motivating. Best for food, fitness, sales &amp; high-energy social apps.</a:t>
            </a:r>
          </a:p>
        </p:txBody>
      </p:sp>
      <p:pic>
        <p:nvPicPr>
          <p:cNvPr id="12" name="Picture 11" descr="temp_warm_s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4617720"/>
            <a:ext cx="3474720" cy="7251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2240" y="20574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8FC4"/>
                </a:solidFill>
                <a:latin typeface="Segoe UI"/>
              </a:rPr>
              <a:t>Cool colours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7376" y="2459736"/>
            <a:ext cx="1726184" cy="3493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emp_cool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514600"/>
            <a:ext cx="1616456" cy="3383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03920" y="2560320"/>
            <a:ext cx="3520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E2E3F"/>
                </a:solidFill>
                <a:latin typeface="Segoe UI"/>
              </a:rPr>
              <a:t>Calm, trustworthy, focus-promoting — Taskko's real base. Best for productivity, finance &amp; learning.</a:t>
            </a:r>
          </a:p>
        </p:txBody>
      </p:sp>
      <p:pic>
        <p:nvPicPr>
          <p:cNvPr id="17" name="Picture 16" descr="temp_cool_sw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4617720"/>
            <a:ext cx="3474720" cy="7251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FC4"/>
                </a:solidFill>
                <a:latin typeface="Segoe UI"/>
              </a:rPr>
              <a:t>STEP 4 · TEMPERATURE (NEUTRAL &amp; ACHROMATIC)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21220"/>
                </a:solidFill>
                <a:latin typeface="Georgia"/>
              </a:rPr>
              <a:t>Matching colour temperature to the app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5648"/>
            <a:ext cx="640080" cy="64008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9C8E7B"/>
                </a:solidFill>
                <a:latin typeface="Segoe UI"/>
              </a:rPr>
              <a:t>Neutral colours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459736"/>
            <a:ext cx="1726184" cy="3493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_neutral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4600"/>
            <a:ext cx="1616456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51760" y="2560320"/>
            <a:ext cx="3520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E2E3F"/>
                </a:solidFill>
                <a:latin typeface="Segoe UI"/>
              </a:rPr>
              <a:t>Minimal, mature, low-fatigue. A quiet canvas. Best for reading, journaling &amp; lifestyle apps.</a:t>
            </a:r>
          </a:p>
        </p:txBody>
      </p:sp>
      <p:pic>
        <p:nvPicPr>
          <p:cNvPr id="12" name="Picture 11" descr="temp_neutral_s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4617720"/>
            <a:ext cx="3474720" cy="7251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2240" y="20574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3A3A40"/>
                </a:solidFill>
                <a:latin typeface="Segoe UI"/>
              </a:rPr>
              <a:t>Achromatic colours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7376" y="2459736"/>
            <a:ext cx="1726184" cy="3493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emp_achromatic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514600"/>
            <a:ext cx="1616456" cy="3383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03920" y="2560320"/>
            <a:ext cx="3520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E2E3F"/>
                </a:solidFill>
                <a:latin typeface="Segoe UI"/>
              </a:rPr>
              <a:t>Black, white &amp; greys — pure contrast &amp; hierarchy. The accessibility baseline.</a:t>
            </a:r>
          </a:p>
        </p:txBody>
      </p:sp>
      <p:pic>
        <p:nvPicPr>
          <p:cNvPr id="17" name="Picture 16" descr="temp_achromatic_sw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4617720"/>
            <a:ext cx="3474720" cy="7251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FC4"/>
                </a:solidFill>
                <a:latin typeface="Segoe U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21220"/>
                </a:solidFill>
                <a:latin typeface="Georgia"/>
              </a:rPr>
              <a:t>The recommended scheme for Taskko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5648"/>
            <a:ext cx="640080" cy="64008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E2E3F"/>
                </a:solidFill>
                <a:latin typeface="Segoe UI"/>
              </a:rPr>
              <a:t>Taskko is both a focus app (wants calm) and a motivation app (wants energy). The exercise points to one recipe that balances both: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54406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E8FC4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17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1220"/>
                </a:solidFill>
                <a:latin typeface="Segoe UI"/>
              </a:rPr>
              <a:t>Cool base (60–30%)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38144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>Sky-blue for a calm, trustworthy, focus-friendly 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834640"/>
            <a:ext cx="54406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306324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FF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8A65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3017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1220"/>
                </a:solidFill>
                <a:latin typeface="Segoe UI"/>
              </a:rPr>
              <a:t>Warm accent (10%)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3438144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>Peach/gold on the hero, streaks &amp; rewards — a split-complementary pairing.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34840"/>
            <a:ext cx="54406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66344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F0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9C8E7B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6177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1220"/>
                </a:solidFill>
                <a:latin typeface="Segoe UI"/>
              </a:rPr>
              <a:t>Neutral background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038344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>A near-white, lightly-tinted canvas keeps long sessions low-fatigue.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434840"/>
            <a:ext cx="54406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66344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E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3A3A40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6177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1220"/>
                </a:solidFill>
                <a:latin typeface="Segoe UI"/>
              </a:rPr>
              <a:t>Achromatic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5038344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>Design reads in greyscale first — guaranteeing contrast &amp; accessibility.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1220"/>
                </a:solidFill>
                <a:latin typeface="Segoe UI"/>
              </a:rPr>
              <a:t>Matches Taskko's real tokens —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E8FC4"/>
                </a:solidFill>
                <a:latin typeface="Segoe UI"/>
              </a:rPr>
              <a:t>#1FB6F0 sky-blue · #FF8A65 peach · neutral background.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DF3FE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C4"/>
                </a:solidFill>
                <a:latin typeface="Segoe UI"/>
              </a:rPr>
              <a:t>LAB 13 ·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468880"/>
            <a:ext cx="7315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121220"/>
                </a:solidFill>
                <a:latin typeface="Georgia"/>
              </a:rPr>
              <a:t>Colour theory,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121220"/>
                </a:solidFill>
                <a:latin typeface="Georgia"/>
              </a:rPr>
              <a:t>applied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6949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Two competitor palettes · 60-30-10 skins · five harmonies · four temperatures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all applied to the Taskko prototype.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2E2E3F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C4"/>
                </a:solidFill>
                <a:latin typeface="Segoe UI"/>
              </a:rPr>
              <a:t>https://www.figma.com/design/Xa83tCHsfbzIuGEJft8zAz/Taskko-%E2%80%94-App-Design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0496" y="1316736"/>
            <a:ext cx="2250440" cy="4590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mp_cool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71600"/>
            <a:ext cx="2140712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Lab 13: Colour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
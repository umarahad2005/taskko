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11312" y="1490472"/>
            <a:ext cx="2104752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20000">
            <a:off x="8275320" y="1554480"/>
            <a:ext cx="1976736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39712" y="1490472"/>
            <a:ext cx="2104752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00000">
            <a:off x="6903720" y="1554480"/>
            <a:ext cx="1976736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582912" y="1490472"/>
            <a:ext cx="2104752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0">
            <a:off x="9646920" y="1554480"/>
            <a:ext cx="1976736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640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60350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FC4"/>
                </a:solidFill>
                <a:latin typeface="Segoe UI"/>
              </a:rPr>
              <a:t>MOBILE APPLICATION DEVELOPMENT · HCI 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6400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121220"/>
                </a:solidFill>
                <a:latin typeface="Georgia"/>
              </a:rPr>
              <a:t>Medium-Fidelity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121220"/>
                </a:solidFill>
                <a:latin typeface="Georgia"/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2E2E3F"/>
                </a:solidFill>
                <a:latin typeface="Segoe UI"/>
              </a:rPr>
              <a:t>Taskko — Your AI Productivity Companion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26280"/>
            <a:ext cx="822960" cy="64008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21220"/>
                </a:solidFill>
                <a:latin typeface="Segoe UI"/>
              </a:rPr>
              <a:t>Umar Ahad Uddin Ahmed Usmani  (SAP 60199)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21220"/>
                </a:solidFill>
                <a:latin typeface="Segoe UI"/>
              </a:rPr>
              <a:t>Muhammad Sharjeel  (SAP 59385)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6B82"/>
                </a:solidFill>
                <a:latin typeface="Segoe UI"/>
              </a:rPr>
              <a:t>Riphah International University, Lahore · 20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B6F0"/>
                </a:solidFill>
                <a:latin typeface="Segoe UI"/>
              </a:rPr>
              <a:t>WHAT IS TASKKO?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One app for the student productivity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3246120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3246120" cy="146304"/>
          </a:xfrm>
          <a:prstGeom prst="roundRect">
            <a:avLst>
              <a:gd name="adj" fmla="val 2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25603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E8FC4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4612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1220"/>
                </a:solidFill>
                <a:latin typeface="Segoe UI"/>
              </a:rPr>
              <a:t>AI goal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749040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2E3F"/>
                </a:solidFill>
                <a:latin typeface="Segoe UI"/>
              </a:rPr>
              <a:t>Hand Tako an overwhelming goal; Gemini turns it into bite-sized, editable tasks you can actually start.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8" y="2148840"/>
            <a:ext cx="3246120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33088" y="2148840"/>
            <a:ext cx="3246120" cy="146304"/>
          </a:xfrm>
          <a:prstGeom prst="roundRect">
            <a:avLst>
              <a:gd name="adj" fmla="val 20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25603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8A65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324612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1220"/>
                </a:solidFill>
                <a:latin typeface="Segoe UI"/>
              </a:rPr>
              <a:t>Gamification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3749040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2E3F"/>
                </a:solidFill>
                <a:latin typeface="Segoe UI"/>
              </a:rPr>
              <a:t>Points, ranks, daily streaks, shields and milestone badges turn progress into a motivating loop.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63256" y="2148840"/>
            <a:ext cx="3246120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63256" y="2148840"/>
            <a:ext cx="3246120" cy="146304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55864" y="25603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D6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34D399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24612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1220"/>
                </a:solidFill>
                <a:latin typeface="Segoe UI"/>
              </a:rPr>
              <a:t>Social + AI companion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3749040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2E3F"/>
                </a:solidFill>
                <a:latin typeface="Segoe UI"/>
              </a:rPr>
              <a:t>A squad leaderboard, shareable report cards, and Tako — an AI buddy for nudges and support.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Taskko targets the student productivity crisis — overwhelming goals, no accountability, no motivation loop, and burnout — with one fast, motivating, low-fatigue loop.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B6F0"/>
                </a:solidFill>
                <a:latin typeface="Segoe UI"/>
              </a:rPr>
              <a:t>THE MAIN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Four user tasks — we prototyped the full signature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960120" cy="960120"/>
          </a:xfrm>
          <a:prstGeom prst="roundRect">
            <a:avLst>
              <a:gd name="adj" fmla="val 22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E8FC4"/>
                </a:solidFill>
                <a:latin typeface="Georgia"/>
              </a:rPr>
              <a:t>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40487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1220"/>
                </a:solidFill>
                <a:latin typeface="Segoe UI"/>
              </a:rPr>
              <a:t>Get set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862072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2E3F"/>
                </a:solidFill>
                <a:latin typeface="Segoe UI"/>
              </a:rPr>
              <a:t>Understand the value &amp; create an account.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335584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8FC4"/>
                </a:solidFill>
                <a:latin typeface="Consolas"/>
              </a:rPr>
              <a:t>Splash · Onboarding · Sign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4884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423160"/>
            <a:ext cx="960120" cy="960120"/>
          </a:xfrm>
          <a:prstGeom prst="roundRect">
            <a:avLst>
              <a:gd name="adj" fmla="val 22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E8FC4"/>
                </a:solidFill>
                <a:latin typeface="Georgia"/>
              </a:rPr>
              <a:t>T2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40487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1220"/>
                </a:solidFill>
                <a:latin typeface="Segoe UI"/>
              </a:rPr>
              <a:t>Plan a goal with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862072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2E3F"/>
                </a:solidFill>
                <a:latin typeface="Segoe UI"/>
              </a:rPr>
              <a:t>Type a goal; get an editable, bite-sized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35584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8FC4"/>
                </a:solidFill>
                <a:latin typeface="Consolas"/>
              </a:rPr>
              <a:t>AI Plan Studio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960120" cy="960120"/>
          </a:xfrm>
          <a:prstGeom prst="roundRect">
            <a:avLst>
              <a:gd name="adj" fmla="val 22000"/>
            </a:avLst>
          </a:prstGeom>
          <a:solidFill>
            <a:srgbClr val="D6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34D399"/>
                </a:solidFill>
                <a:latin typeface="Georgia"/>
              </a:rPr>
              <a:t>T3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3708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1220"/>
                </a:solidFill>
                <a:latin typeface="Segoe UI"/>
              </a:rPr>
              <a:t>Do focused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4828032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2E3F"/>
                </a:solidFill>
                <a:latin typeface="Segoe UI"/>
              </a:rPr>
              <a:t>Pick a mood, run a focus session, complete tasks.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532180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Home · Focus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11480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4389120"/>
            <a:ext cx="960120" cy="960120"/>
          </a:xfrm>
          <a:prstGeom prst="roundRect">
            <a:avLst>
              <a:gd name="adj" fmla="val 22000"/>
            </a:avLst>
          </a:prstGeom>
          <a:solidFill>
            <a:srgbClr val="FF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8A65"/>
                </a:solidFill>
                <a:latin typeface="Georgia"/>
              </a:rPr>
              <a:t>T4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3708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1220"/>
                </a:solidFill>
                <a:latin typeface="Segoe UI"/>
              </a:rPr>
              <a:t>Stay motivated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828032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E2E3F"/>
                </a:solidFill>
                <a:latin typeface="Segoe UI"/>
              </a:rPr>
              <a:t>Badges, squad, report card, share + Tako chat.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32180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8A65"/>
                </a:solidFill>
                <a:latin typeface="Consolas"/>
              </a:rPr>
              <a:t>Hub · Tako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1220"/>
                </a:solidFill>
                <a:latin typeface="Segoe UI"/>
              </a:rPr>
              <a:t>Signature task prototyped end-to-end:  </a:t>
            </a:r>
            <a:r>
              <a:rPr sz="1300" b="0" i="1">
                <a:solidFill>
                  <a:srgbClr val="0E8FC4"/>
                </a:solidFill>
                <a:latin typeface="Segoe UI"/>
              </a:rPr>
              <a:t>“From an overwhelming goal to a started, completed and rewarded study session.”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B6F0"/>
                </a:solidFill>
                <a:latin typeface="Segoe UI"/>
              </a:rPr>
              <a:t>DESIGN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From paper sketches to an interactive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11201400" cy="43360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B6F0"/>
                </a:solidFill>
                <a:latin typeface="Segoe UI"/>
              </a:rPr>
              <a:t>COMPLETE TASK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The signature task, wired end-to-end in the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1120140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B6F0"/>
                </a:solidFill>
                <a:latin typeface="Segoe UI"/>
              </a:rPr>
              <a:t>CHANGES FROM LOW-FI  ·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Global structural decisions, applied to every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54406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109728" cy="1143000"/>
          </a:xfrm>
          <a:prstGeom prst="roundRect">
            <a:avLst>
              <a:gd name="adj" fmla="val 4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40864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1220"/>
                </a:solidFill>
                <a:latin typeface="Segoe UI"/>
              </a:rPr>
              <a:t>Consistent grid &amp; spacing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402-px frame, 8/12/16 scale, 20–28-px bento radii.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54406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109728" cy="1143000"/>
          </a:xfrm>
          <a:prstGeom prst="roundRect">
            <a:avLst>
              <a:gd name="adj" fmla="val 4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340864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1220"/>
                </a:solidFill>
                <a:latin typeface="Segoe UI"/>
              </a:rPr>
              <a:t>Reusable component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7432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Shared buttons, inputs, cards, task rows, chips, tab bar.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11880"/>
            <a:ext cx="54406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109728" cy="1143000"/>
          </a:xfrm>
          <a:prstGeom prst="roundRect">
            <a:avLst>
              <a:gd name="adj" fmla="val 4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58184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1220"/>
                </a:solidFill>
                <a:latin typeface="Segoe UI"/>
              </a:rPr>
              <a:t>Persistent bottom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Home · Plan · Hub · Tako always visible.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80"/>
            <a:ext cx="54406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3611880"/>
            <a:ext cx="109728" cy="1143000"/>
          </a:xfrm>
          <a:prstGeom prst="roundRect">
            <a:avLst>
              <a:gd name="adj" fmla="val 4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758184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1220"/>
                </a:solidFill>
                <a:latin typeface="Segoe UI"/>
              </a:rPr>
              <a:t>System-state screens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1605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Loading, empty, error/retry and success feedback added.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29200"/>
            <a:ext cx="54406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5029200"/>
            <a:ext cx="109728" cy="1143000"/>
          </a:xfrm>
          <a:prstGeom prst="roundRect">
            <a:avLst>
              <a:gd name="adj" fmla="val 4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75504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1220"/>
                </a:solidFill>
                <a:latin typeface="Segoe UI"/>
              </a:rPr>
              <a:t>Realistic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Real copy replaces lorem to test true layout &amp; overflow.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029200"/>
            <a:ext cx="54406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60" y="5029200"/>
            <a:ext cx="109728" cy="1143000"/>
          </a:xfrm>
          <a:prstGeom prst="roundRect">
            <a:avLst>
              <a:gd name="adj" fmla="val 4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5175504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1220"/>
                </a:solidFill>
                <a:latin typeface="Segoe UI"/>
              </a:rPr>
              <a:t>Interactive links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5778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>Click links between frames — sketches become navigable.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B6F0"/>
                </a:solidFill>
                <a:latin typeface="Segoe UI"/>
              </a:rPr>
              <a:t>BEFORE / AFTER  ·  1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2"/>
            <a:ext cx="1954585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82657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6080760"/>
            <a:ext cx="200944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6B82"/>
                </a:solidFill>
                <a:latin typeface="Segoe UI"/>
              </a:rPr>
              <a:t>LOW-FIDELITY WIREFRAME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3703320"/>
            <a:ext cx="731520" cy="502920"/>
          </a:xfrm>
          <a:prstGeom prst="rightArrow">
            <a:avLst/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7872" y="2084832"/>
            <a:ext cx="1894461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nboardin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48840"/>
            <a:ext cx="1766445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2" y="6080760"/>
            <a:ext cx="194932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FB6F0"/>
                </a:solidFill>
                <a:latin typeface="Segoe UI"/>
              </a:rPr>
              <a:t>PROTOTYPE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488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1220"/>
                </a:solidFill>
                <a:latin typeface="Segoe UI"/>
              </a:rPr>
              <a:t>WHAT CHANGED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7614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697480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One welcome panel → a 3-slide value tour (Plan / Streaks / Squad)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602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3538728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Animated 1/3 dot indicator and a persistent Skip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4439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4379976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Next → Get started; both routes lead into Sign 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440680"/>
            <a:ext cx="5760720" cy="777240"/>
          </a:xfrm>
          <a:prstGeom prst="roundRect">
            <a:avLst>
              <a:gd name="adj" fmla="val 18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532120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B6F0"/>
                </a:solidFill>
                <a:latin typeface="Segoe UI"/>
              </a:rPr>
              <a:t>Why it matters:  </a:t>
            </a:r>
            <a:r>
              <a:rPr sz="1200" b="0" i="1">
                <a:solidFill>
                  <a:srgbClr val="2E2E3F"/>
                </a:solidFill>
                <a:latin typeface="Segoe UI"/>
              </a:rPr>
              <a:t>Progressive disclosure · user control &amp; freedom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B6F0"/>
                </a:solidFill>
                <a:latin typeface="Segoe UI"/>
              </a:rPr>
              <a:t>BEFORE / AFTER  ·  2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2"/>
            <a:ext cx="1954585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82657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6080760"/>
            <a:ext cx="200944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6B82"/>
                </a:solidFill>
                <a:latin typeface="Segoe UI"/>
              </a:rPr>
              <a:t>LOW-FIDELITY WIREFRAME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3703320"/>
            <a:ext cx="731520" cy="502920"/>
          </a:xfrm>
          <a:prstGeom prst="rightArrow">
            <a:avLst/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7872" y="2084832"/>
            <a:ext cx="1894461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48840"/>
            <a:ext cx="1766445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2" y="6080760"/>
            <a:ext cx="194932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FB6F0"/>
                </a:solidFill>
                <a:latin typeface="Segoe UI"/>
              </a:rPr>
              <a:t>PROTOTYPE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488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1220"/>
                </a:solidFill>
                <a:latin typeface="Segoe UI"/>
              </a:rPr>
              <a:t>WHAT CHANGED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7614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697480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Google / Apple SSO moved above the fold to cut friction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602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3538728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Required Terms checkbox keeps the CTA disabled until valid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4439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4379976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Inline validation, password show/hide, Login cross-link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440680"/>
            <a:ext cx="5760720" cy="777240"/>
          </a:xfrm>
          <a:prstGeom prst="roundRect">
            <a:avLst>
              <a:gd name="adj" fmla="val 18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532120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B6F0"/>
                </a:solidFill>
                <a:latin typeface="Segoe UI"/>
              </a:rPr>
              <a:t>Why it matters:  </a:t>
            </a:r>
            <a:r>
              <a:rPr sz="1200" b="0" i="1">
                <a:solidFill>
                  <a:srgbClr val="2E2E3F"/>
                </a:solidFill>
                <a:latin typeface="Segoe UI"/>
              </a:rPr>
              <a:t>Error prevention · constraints · affordance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FC4"/>
                </a:solidFill>
                <a:latin typeface="Segoe UI"/>
              </a:rPr>
              <a:t>BEFORE / AFTER  ·  3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Home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2"/>
            <a:ext cx="1954585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82657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6080760"/>
            <a:ext cx="200944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6B82"/>
                </a:solidFill>
                <a:latin typeface="Segoe UI"/>
              </a:rPr>
              <a:t>LOW-FIDELITY WIREFRAME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3703320"/>
            <a:ext cx="731520" cy="502920"/>
          </a:xfrm>
          <a:prstGeom prst="rightArrow">
            <a:avLst/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7872" y="2084832"/>
            <a:ext cx="1894461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48840"/>
            <a:ext cx="1766445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2" y="6080760"/>
            <a:ext cx="194932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8FC4"/>
                </a:solidFill>
                <a:latin typeface="Segoe UI"/>
              </a:rPr>
              <a:t>PROTOTYPE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488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1220"/>
                </a:solidFill>
                <a:latin typeface="Segoe UI"/>
              </a:rPr>
              <a:t>WHAT CHANGED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7614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697480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Flat task list → a grouped bento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602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3538728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Streak &amp; Rank cards with live numbers + progress bars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4439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4379976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Mood check-in and a “Next up” hero CTA (Start now)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440680"/>
            <a:ext cx="5760720" cy="777240"/>
          </a:xfrm>
          <a:prstGeom prst="roundRect">
            <a:avLst>
              <a:gd name="adj" fmla="val 18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532120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FC4"/>
                </a:solidFill>
                <a:latin typeface="Segoe UI"/>
              </a:rPr>
              <a:t>Why it matters:  </a:t>
            </a:r>
            <a:r>
              <a:rPr sz="1200" b="0" i="1">
                <a:solidFill>
                  <a:srgbClr val="2E2E3F"/>
                </a:solidFill>
                <a:latin typeface="Segoe UI"/>
              </a:rPr>
              <a:t>Bridges the Gulf of Evaluation &amp; Execution · Gestalt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FC4"/>
                </a:solidFill>
                <a:latin typeface="Segoe UI"/>
              </a:rPr>
              <a:t>BEFORE / AFTER  ·  4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AI Plan 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2"/>
            <a:ext cx="1954585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82657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6080760"/>
            <a:ext cx="200944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6B82"/>
                </a:solidFill>
                <a:latin typeface="Segoe UI"/>
              </a:rPr>
              <a:t>LOW-FIDELITY WIREFRAME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3703320"/>
            <a:ext cx="731520" cy="502920"/>
          </a:xfrm>
          <a:prstGeom prst="rightArrow">
            <a:avLst/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7872" y="2084832"/>
            <a:ext cx="1894461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48840"/>
            <a:ext cx="1766445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2" y="6080760"/>
            <a:ext cx="194932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8FC4"/>
                </a:solidFill>
                <a:latin typeface="Segoe UI"/>
              </a:rPr>
              <a:t>PROTOTYPE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488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1220"/>
                </a:solidFill>
                <a:latin typeface="Segoe UI"/>
              </a:rPr>
              <a:t>WHAT CHANGED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7614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697480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Added a 3-step header: Goal → Break down → Customize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602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3538728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Editable AI rows: edit / add / delete / regenerate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4439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E8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4379976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Per-task time + points · Commit-to-Today · AI loading 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440680"/>
            <a:ext cx="5760720" cy="777240"/>
          </a:xfrm>
          <a:prstGeom prst="roundRect">
            <a:avLst>
              <a:gd name="adj" fmla="val 18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532120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FC4"/>
                </a:solidFill>
                <a:latin typeface="Segoe UI"/>
              </a:rPr>
              <a:t>Why it matters:  </a:t>
            </a:r>
            <a:r>
              <a:rPr sz="1200" b="0" i="1">
                <a:solidFill>
                  <a:srgbClr val="2E2E3F"/>
                </a:solidFill>
                <a:latin typeface="Segoe UI"/>
              </a:rPr>
              <a:t>Visibility of status · user control over the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8A65"/>
                </a:solidFill>
                <a:latin typeface="Segoe UI"/>
              </a:rPr>
              <a:t>BEFORE / AFTER  ·  5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Gamification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2084832"/>
            <a:ext cx="1954585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82657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6080760"/>
            <a:ext cx="200944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6B82"/>
                </a:solidFill>
                <a:latin typeface="Segoe UI"/>
              </a:rPr>
              <a:t>LOW-FIDELITY WIREFRAME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3703320"/>
            <a:ext cx="731520" cy="502920"/>
          </a:xfrm>
          <a:prstGeom prst="rightArrow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7872" y="2084832"/>
            <a:ext cx="1894461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48840"/>
            <a:ext cx="1766445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7872" y="6080760"/>
            <a:ext cx="194932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8A65"/>
                </a:solidFill>
                <a:latin typeface="Segoe UI"/>
              </a:rPr>
              <a:t>PROTOTYPE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488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1220"/>
                </a:solidFill>
                <a:latin typeface="Segoe UI"/>
              </a:rPr>
              <a:t>WHAT CHANGED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7614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697480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One badges grid → 3 tabs (Badges / Squad / Report card)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602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3538728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Clear locked vs unlocked badges + a “New badge!” highlight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44398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4379976"/>
            <a:ext cx="5468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One-tap Share to the system sheet for accountability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5440680"/>
            <a:ext cx="5760720" cy="777240"/>
          </a:xfrm>
          <a:prstGeom prst="roundRect">
            <a:avLst>
              <a:gd name="adj" fmla="val 18000"/>
            </a:avLst>
          </a:prstGeom>
          <a:solidFill>
            <a:srgbClr val="FF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532120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8A65"/>
                </a:solidFill>
                <a:latin typeface="Segoe UI"/>
              </a:rPr>
              <a:t>Why it matters:  </a:t>
            </a:r>
            <a:r>
              <a:rPr sz="1200" b="0" i="1">
                <a:solidFill>
                  <a:srgbClr val="2E2E3F"/>
                </a:solidFill>
                <a:latin typeface="Segoe UI"/>
              </a:rPr>
              <a:t>Feedback &amp; reward · recognition over 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B6F0"/>
                </a:solidFill>
                <a:latin typeface="Segoe UI"/>
              </a:rPr>
              <a:t>RATIONALE  ·  HCI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Every change maps to a usability principle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54406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350008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E8FC4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317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21220"/>
                </a:solidFill>
                <a:latin typeface="Segoe UI"/>
              </a:rPr>
              <a:t>Visibility of system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70632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2E3F"/>
                </a:solidFill>
                <a:latin typeface="Segoe UI"/>
              </a:rPr>
              <a:t>Streak/rank cards, 3-step Plan progress, AI loading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54406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2350008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D6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317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21220"/>
                </a:solidFill>
                <a:latin typeface="Segoe UI"/>
              </a:rPr>
              <a:t>Bridge the Gulf of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770632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2E3F"/>
                </a:solidFill>
                <a:latin typeface="Segoe UI"/>
              </a:rPr>
              <a:t>“Next up” hero CTA makes starting the next task effortless.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30168"/>
            <a:ext cx="54406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831336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DD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E8FC4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813048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21220"/>
                </a:solidFill>
                <a:latin typeface="Segoe UI"/>
              </a:rPr>
              <a:t>Bridge the Gulf of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51960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2E3F"/>
                </a:solidFill>
                <a:latin typeface="Segoe UI"/>
              </a:rPr>
              <a:t>Numbers + progress bars make status readable at a glance.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30168"/>
            <a:ext cx="54406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3831336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F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8A65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813048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21220"/>
                </a:solidFill>
                <a:latin typeface="Segoe UI"/>
              </a:rPr>
              <a:t>Constraints &amp; error prevention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251960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2E3F"/>
                </a:solidFill>
                <a:latin typeface="Segoe UI"/>
              </a:rPr>
              <a:t>Disabled CTA, Terms gate, inline validation on sign-up.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111496"/>
            <a:ext cx="54406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5312664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F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8A65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294376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21220"/>
                </a:solidFill>
                <a:latin typeface="Segoe UI"/>
              </a:rPr>
              <a:t>Gestalt grouping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733288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2E3F"/>
                </a:solidFill>
                <a:latin typeface="Segoe UI"/>
              </a:rPr>
              <a:t>Bento cards group related stats &amp; tasks, reducing overwhelm.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111496"/>
            <a:ext cx="54406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5312664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D6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294376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21220"/>
                </a:solidFill>
                <a:latin typeface="Segoe UI"/>
              </a:rPr>
              <a:t>User control &amp; freedom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733288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2E3F"/>
                </a:solidFill>
                <a:latin typeface="Segoe UI"/>
              </a:rPr>
              <a:t>Editable AI plan, persistent Skip, regenerate.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B6F0"/>
                </a:solidFill>
                <a:latin typeface="Segoe UI"/>
              </a:rPr>
              <a:t>PROTOTYPE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The complete flow, screen by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6675" y="2221992"/>
            <a:ext cx="1684169" cy="3511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nboardin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83" y="2286000"/>
            <a:ext cx="1556154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790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FC4"/>
                </a:solidFill>
                <a:latin typeface="Segoe UI"/>
              </a:rPr>
              <a:t>1 · Onboard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5475" y="2221992"/>
            <a:ext cx="1684169" cy="3511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483" y="2286000"/>
            <a:ext cx="1556154" cy="3383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3160" y="57790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FC4"/>
                </a:solidFill>
                <a:latin typeface="Segoe UI"/>
              </a:rPr>
              <a:t>2 · Sign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4275" y="2221992"/>
            <a:ext cx="1684169" cy="3511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283" y="2286000"/>
            <a:ext cx="1556154" cy="3383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51960" y="57790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FC4"/>
                </a:solidFill>
                <a:latin typeface="Segoe UI"/>
              </a:rPr>
              <a:t>3 · Home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075" y="2221992"/>
            <a:ext cx="1684169" cy="3511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083" y="2286000"/>
            <a:ext cx="1556154" cy="3383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80760" y="57790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FC4"/>
                </a:solidFill>
                <a:latin typeface="Segoe UI"/>
              </a:rPr>
              <a:t>4 · AI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81875" y="2221992"/>
            <a:ext cx="1684169" cy="3511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883" y="2286000"/>
            <a:ext cx="1556154" cy="33832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09560" y="57790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FC4"/>
                </a:solidFill>
                <a:latin typeface="Segoe UI"/>
              </a:rPr>
              <a:t>5 · Reward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0675" y="2221992"/>
            <a:ext cx="1684169" cy="3511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683" y="2286000"/>
            <a:ext cx="1556154" cy="3383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38360" y="57790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8FC4"/>
                </a:solidFill>
                <a:latin typeface="Segoe UI"/>
              </a:rPr>
              <a:t>↗ Tako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0FC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32918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B6F0"/>
                </a:solidFill>
                <a:latin typeface="Segoe UI"/>
              </a:rPr>
              <a:t>TOOLS BESIDES FIGMA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1220"/>
                </a:solidFill>
                <a:latin typeface="Georgia"/>
              </a:rPr>
              <a:t>What we used, why, and the trade-offs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640080" cy="64008"/>
          </a:xfrm>
          <a:prstGeom prst="roundRect">
            <a:avLst>
              <a:gd name="adj" fmla="val 5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057400"/>
          <a:ext cx="11201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  <a:gridCol w="3063240"/>
                <a:gridCol w="301752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marL="73152" marR="73152" marT="36576" marB="36576">
                    <a:solidFill>
                      <a:srgbClr val="0E8F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 we used it</a:t>
                      </a:r>
                    </a:p>
                  </a:txBody>
                  <a:tcPr marL="73152" marR="73152" marT="36576" marB="36576">
                    <a:solidFill>
                      <a:srgbClr val="0E8F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Pros</a:t>
                      </a:r>
                    </a:p>
                  </a:txBody>
                  <a:tcPr marL="73152" marR="73152" marT="36576" marB="36576">
                    <a:solidFill>
                      <a:srgbClr val="0E8FC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Cons</a:t>
                      </a:r>
                    </a:p>
                  </a:txBody>
                  <a:tcPr marL="73152" marR="73152" marT="36576" marB="36576">
                    <a:solidFill>
                      <a:srgbClr val="0E8FC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220"/>
                          </a:solidFill>
                          <a:latin typeface="Segoe UI"/>
                        </a:rPr>
                        <a:t>Claude (Claude Design)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Generated the UI concept, low-fi wireframes, this report &amp; deck.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Fast iteration; design+code+docs together; token-consistent.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Needs human review; not pixel-precise; can hallucinate.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220"/>
                          </a:solidFill>
                          <a:latin typeface="Segoe UI"/>
                        </a:rPr>
                        <a:t>HTML / CSS + Chrome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Rendered pixel-accurate screen frames for handoff.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Real fonts/CSS; exact control; free; reusable in the build.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Needs coding; no drag-drop or comments; slower mock-ups.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220"/>
                          </a:solidFill>
                          <a:latin typeface="Segoe UI"/>
                        </a:rPr>
                        <a:t>Python (Pillow/pptx/docx)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Scripted wireframes, diagrams, the report &amp; this deck.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Repeatable; precise; free; regenerate from source fast.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Code-first, not WYSIWYG; manual layout tuning.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220"/>
                          </a:solidFill>
                          <a:latin typeface="Segoe UI"/>
                        </a:rPr>
                        <a:t>Google Fonts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Manrope / Fraunces / JetBrains Mono type system.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Free, open-licensed, high quality, many weights.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Embed for offline; load weight; attribution needed.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220"/>
                          </a:solidFill>
                          <a:latin typeface="Segoe UI"/>
                        </a:rPr>
                        <a:t>Microsoft Office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Final .docx / .pptx submission formats.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Universally accepted; easy edit; reliable PDF export.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Proprietary; less design control; formatting can drift.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21220"/>
                          </a:solidFill>
                          <a:latin typeface="Segoe UI"/>
                        </a:rPr>
                        <a:t>Git &amp; GitHub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Version control &amp; backup for assets and docs.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History &amp; rollback; backup; easy collaboration; free.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E2E3F"/>
                          </a:solidFill>
                          <a:latin typeface="Segoe UI"/>
                        </a:rPr>
                        <a:t>Learning curve; binary assets don’t diff; conflicts.</a:t>
                      </a:r>
                    </a:p>
                  </a:txBody>
                  <a:tcPr marL="73152" marR="73152" marT="27432" marB="27432"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DF3FE"/>
              </a:gs>
              <a:gs pos="100000">
                <a:srgbClr val="E9F6F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FB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603504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1220"/>
                </a:solidFill>
                <a:latin typeface="Segoe UI"/>
              </a:rPr>
              <a:t>taskko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SHARE THE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749807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121220"/>
                </a:solidFill>
                <a:latin typeface="Georgia"/>
              </a:rPr>
              <a:t>The interactive Figma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121220"/>
                </a:solidFill>
                <a:latin typeface="Georgia"/>
              </a:rPr>
              <a:t>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7315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All 8 phone screens + the admin portal, with the main task flow wired 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2E3F"/>
                </a:solidFill>
                <a:latin typeface="Segoe UI"/>
              </a:rPr>
              <a:t>clickable links — open the file and press Present (▶) to play it end-to-end.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2E2E3F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C4"/>
                </a:solidFill>
                <a:latin typeface="Segoe UI"/>
              </a:rPr>
              <a:t>https://www.figma.com/design/Xa83tCHsfbzIuGEJft8zAz/Taskko-%E2%80%94-App-Design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77840"/>
            <a:ext cx="731520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8A65"/>
                </a:solidFill>
                <a:latin typeface="Segoe UI"/>
              </a:rPr>
              <a:t>Tip:  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E2E3F"/>
                </a:solidFill>
                <a:latin typeface="Segoe UI"/>
              </a:rPr>
              <a:t>set the link to “Anyone with the link · can view” so evaluators open it without an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31352" y="1307592"/>
            <a:ext cx="2188868" cy="46085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71600"/>
            <a:ext cx="2060853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3F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Taskko — Medium-Fidelity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6B82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